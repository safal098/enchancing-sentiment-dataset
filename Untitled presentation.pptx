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DCB32-F1A9-48D3-9790-C45A119972E3}">
  <a:tblStyle styleId="{CB3DCB32-F1A9-48D3-9790-C45A119972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5.xml"/><Relationship Id="rId22" Type="http://schemas.openxmlformats.org/officeDocument/2006/relationships/font" Target="fonts/Roboto-italic.fntdata"/><Relationship Id="rId10" Type="http://schemas.openxmlformats.org/officeDocument/2006/relationships/slide" Target="slides/slide4.xml"/><Relationship Id="rId21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292b2e5e7440670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292b2e5e744067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77066286dfcbf82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77066286dfcbf82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292b2e5e7440670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292b2e5e7440670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92b2e5e7440670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292b2e5e7440670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292b2e5e7440670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292b2e5e7440670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292b2e5e7440670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292b2e5e7440670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77066286dfcbf82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77066286dfcbf82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292b2e5e7440670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292b2e5e7440670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292b2e5e7440670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292b2e5e7440670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77066286dfcbf82f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h77066286dfcbf82f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292b2e5e7440670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292b2e5e7440670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292b2e5e7440670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292b2e5e7440670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-870650"/>
            <a:ext cx="85206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-104125" y="320700"/>
            <a:ext cx="8520600" cy="48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Sentiment Analysis of Romanized Code- Mixed Nepali Social Media Text Through Monolingual Transformation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83550" y="3155350"/>
            <a:ext cx="2312100" cy="13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Apar Poudel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Computer Engineering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Gandaki College of Engineering and Science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Pokhara, Nepal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be2022ce161@gces.edu.np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11825" y="3155350"/>
            <a:ext cx="2257800" cy="13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Safal Sharma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Engineering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Gandaki College of Engineering and Science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Pokhara, Nepal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be2022ce162@gces.edu.np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643875" y="3101100"/>
            <a:ext cx="2117400" cy="13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Dr. Bidur Devkota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professor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Gandaki College of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Engineering and Science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Pokhara, Nepal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bidur@gces.edu.np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What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sentiment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analysis?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 txBox="1"/>
          <p:nvPr>
            <p:ph idx="4294967295" type="subTitle"/>
          </p:nvPr>
        </p:nvSpPr>
        <p:spPr>
          <a:xfrm>
            <a:off x="274550" y="907575"/>
            <a:ext cx="8367900" cy="14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 is a process that uses natural language processing (NLP) and machine learning to identify and categorize the underlying emotional tone of a piece of text.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Practical Importance: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Accurately evaluating sentiment in social media text provides crucial insights into public opinion and serves as a foundational step for broader NLP applications, such as the identification of online hate speech and the analysis of diverse regional dialects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in Code-Mixed Languages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Standardized Orthography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Noise, Casual Slang, and Idioms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Inherent word-sense ambiguity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Noise, Casual Slang, and Idiom</a:t>
            </a:r>
            <a:r>
              <a:rPr lang="en-GB" sz="11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572000" y="2571750"/>
            <a:ext cx="3999900" cy="23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Rise of Romanized Script Usage and Its Impact on Transformer Models</a:t>
            </a: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Romanized Nepali has become the dominant script for communication on social media platforms in Nepal,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</a:t>
            </a: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transformer-based encoding models such as </a:t>
            </a:r>
            <a:r>
              <a:rPr b="1"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XLM-RoBERTa, mBERT, and MuRIL </a:t>
            </a:r>
            <a:r>
              <a:rPr lang="en-GB" sz="13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struggle with raw Romanized input and code-switching noise</a:t>
            </a:r>
            <a:r>
              <a:rPr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67050" y="3881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How are social media texts?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>
            <p:ph idx="4294967295" type="subTitle"/>
          </p:nvPr>
        </p:nvSpPr>
        <p:spPr>
          <a:xfrm>
            <a:off x="309300" y="1404725"/>
            <a:ext cx="86598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vanja ta hero hudo raixa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 kukur lai nxodnu dd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 ko rajkot bata herxu regular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 the very best</a:t>
            </a:r>
            <a:endParaRPr sz="99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47875" y="193450"/>
            <a:ext cx="8520600" cy="8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Objectives of the Study</a:t>
            </a:r>
            <a:endParaRPr sz="2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>
              <a:highlight>
                <a:schemeClr val="lt1"/>
              </a:highlight>
            </a:endParaRPr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94200" y="1034125"/>
            <a:ext cx="8520600" cy="39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the Script Gap Between Romanized Text and Formal Devanagari Models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 a Parallel Normalization Strategy for Better Sentiment Classification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GB" sz="18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Performance Gains Using Monolingual Transformation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0" y="744575"/>
            <a:ext cx="85206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1A1B2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5"/>
            <a:ext cx="8520600" cy="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1141325" y="38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{CB3DCB32-F1A9-48D3-9790-C45A119972E3}</a:tableStyleId>
              </a:tblPr>
              <a:tblGrid>
                <a:gridCol w="3619500"/>
                <a:gridCol w="3619500"/>
              </a:tblGrid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Authors</a:t>
                      </a:r>
                      <a:endParaRPr/>
                    </a:p>
                  </a:txBody>
                  <a:tcPr marT="91425" marB="91425" marR="91425" marL="91425"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Title</a:t>
                      </a:r>
                      <a:endParaRPr/>
                    </a:p>
                  </a:txBody>
                  <a:tcPr marT="91425" marB="91425" marR="91425" marL="91425"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Pahari &amp; Shimada (2023)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Language Preference for Expression of Sentiment for Nepali-English Bilingual Speakers on Social Media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Gupta, Joshi, &amp; Bali (2020)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Convert or Not to Convert: Back-Transliteration of Code-Mixed Text for Downstream NLP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Singh, Sen, &amp; Kumar (2018)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Twitter Sentiment Analysis Approach for Romanized Code-Mixed Hindi-English Text using Machine Translation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Joshi et al. (2016)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Towards Sub-word Level Language Identification for Intra-word Code-Switching in Hindi-English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Khanuja et al. (2021)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MuRIL: Multilingual Representations for Indian Languages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Conneau et al. (2020)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Unsupervised Cross-lingual Representation Learning at Scale (XLM-RoBERTa)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Winata et al. (2021)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Are Multilingual Models Effective in Code-Switching?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Adhikari et al. (2022)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COVID-19-Related Nepali Tweets Classification in a Low Resource Setting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Patwa et al. (2020)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SemEval-2020 Task 9: Overview of Sentiment Analysis of Code-Mixed Tweets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F"/>
                    </a:solidFill>
                  </a:tcPr>
                </a:tc>
              </a:tr>
              <a:tr h="12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Gurung (2019)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A1B2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Nepali-English Code-Switching in the Conversations of Nepalese People: A Sociolinguistic Study</a:t>
                      </a:r>
                      <a:endParaRPr sz="1200">
                        <a:solidFill>
                          <a:srgbClr val="1A1B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73777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0" y="292600"/>
            <a:ext cx="8520600" cy="9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00"/>
              <a:t>Dataset</a:t>
            </a:r>
            <a:r>
              <a:rPr lang="en-GB" sz="2400"/>
              <a:t> Overview</a:t>
            </a:r>
            <a:endParaRPr sz="2400"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1233100"/>
            <a:ext cx="8756700" cy="38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base corpus consists of 10,702 comments collected from YouTube (Pahari &amp; Shimada).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Raw Text Format:</a:t>
            </a:r>
            <a:r>
              <a:rPr lang="en-GB" sz="11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comments existed in raw Romanized script, containing non-standardized orthography, code-mixed Nepali-English phrases, and casual social media noise.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instance was  annotated into one of three core sentiment categories: Positive, Neutral, or Negative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base corpus is well-balanced across all three classes, preventing model bias toward any single sentiment category: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3,460 comments (~32.3%)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Neutral: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3,648 comments (~34.1%)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3,594 comments (~33.6%)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1079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committed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were used for validation, and 1069 were used for the testing.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311700" y="310675"/>
            <a:ext cx="8520600" cy="83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Distribution of details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311700" y="1368575"/>
            <a:ext cx="8520600" cy="3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Negative (33.8%), Neutral (33.6%), Positive (32.6%)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Negative (34.8%), Neutral (32.2%), Positive (33.0%)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Negative (33.4%), Neutral (34.2%), Positive (32.4%)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 title="Code_Generated_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2344850"/>
            <a:ext cx="8572500" cy="292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0" y="796875"/>
            <a:ext cx="8520600" cy="4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pic>
        <p:nvPicPr>
          <p:cNvPr descr="Screenshot 2026-08-10 at 7.39.18 PM.png"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50" y="796875"/>
            <a:ext cx="8123524" cy="434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/>
          <p:nvPr/>
        </p:nvSpPr>
        <p:spPr>
          <a:xfrm>
            <a:off x="304100" y="191625"/>
            <a:ext cx="4863600" cy="6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</a:rPr>
              <a:t>What we </a:t>
            </a:r>
            <a:r>
              <a:rPr lang="en-GB" sz="2800">
                <a:solidFill>
                  <a:schemeClr val="dk1"/>
                </a:solidFill>
              </a:rPr>
              <a:t>did ?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Transformer Model Architectures Overview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mBERT (Multilingual BERT)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multilingual transformer-based encoding model pre-trained on Wikipedia dumps across 104 languages using Masked Language Modeling (MLM).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in Experiment: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a baseline for multilingual representations, though performance on raw Romanized text is hindered by out-of-vocabulary tokens and informal code-switching noise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XLM-RoBERTa: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large-scale multilingual transformer model trained on over 2.5 TB of filtered Common Crawl data across 100 languages, utilizing an optimized RoBERTa pre-training approach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Role in Experiment: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Emerged as the top-performing model in the evaluation . Standardizing inputs to Devanagari allowed  XLM-RoBERTa to overcome the "script gap," increasing its Macro F1 score from 0.67 on raw Romanized text to 0.7093 on normalized Devanagari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274800"/>
            <a:ext cx="8520600" cy="42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MuRIL: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pre-trained transformer model specifically engineered for Indic languages, trained on both monolingual and translated/transliterated parallel corpora from South Asian languages.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in Experiment: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Specifically suited for Devanagari and regional linguistic patterns. Script normalization yielded similar performance gains for MuRIL by eliminating raw transliteration noise and aligning text with its Indic training representations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Experimental Setup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 Architectures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Models: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mBERT: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Wikipedia pre-trained </a:t>
            </a:r>
            <a:endParaRPr baseline="30000"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XLM-RoBERTa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CommonCrawl pre-trained</a:t>
            </a:r>
            <a:endParaRPr baseline="30000"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Roboto"/>
              <a:buChar char="●"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MuRIL: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Indic-focused pre-trained 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Hyperparameters &amp; Evaluation Protocol</a:t>
            </a: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Configuration: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Optimizer: AdamW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 Rate: 1 * 10^-5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Epochs: 5 epochs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311700" y="591175"/>
            <a:ext cx="8520600" cy="44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Times New Roman"/>
              <a:buChar char="●"/>
            </a:pPr>
            <a:r>
              <a:rPr lang="en-GB" sz="14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Per-class F1 (Positive, Neutral, Negative), Macro F1, Weighted F1, and Accuracy</a:t>
            </a:r>
            <a:endParaRPr sz="14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